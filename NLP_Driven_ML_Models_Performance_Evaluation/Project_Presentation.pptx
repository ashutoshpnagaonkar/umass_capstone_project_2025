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2"/>
  </p:notesMasterIdLst>
  <p:sldIdLst>
    <p:sldId id="256" r:id="rId2"/>
    <p:sldId id="265" r:id="rId3"/>
    <p:sldId id="273" r:id="rId4"/>
    <p:sldId id="266" r:id="rId5"/>
    <p:sldId id="267" r:id="rId6"/>
    <p:sldId id="268" r:id="rId7"/>
    <p:sldId id="269" r:id="rId8"/>
    <p:sldId id="257" r:id="rId9"/>
    <p:sldId id="259" r:id="rId10"/>
    <p:sldId id="263" r:id="rId11"/>
    <p:sldId id="258" r:id="rId12"/>
    <p:sldId id="260" r:id="rId13"/>
    <p:sldId id="261" r:id="rId14"/>
    <p:sldId id="262" r:id="rId15"/>
    <p:sldId id="264" r:id="rId16"/>
    <p:sldId id="270" r:id="rId17"/>
    <p:sldId id="271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9C02E-B14B-48B2-A34B-2D15DEA78956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F9DE4-2D23-48C8-8DAE-55BB40067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6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F9DE4-2D23-48C8-8DAE-55BB400673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37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B4DD-D362-9AA1-C9F7-47BF884B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88109-CF55-4D5E-9E98-6A627D690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CC5CC-E409-F78B-7075-9A3EB7B23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2327A-CC2A-7E51-DB41-538533376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F9DE4-2D23-48C8-8DAE-55BB400673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21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EA0D-9E1E-4552-A48F-DA4FB2B35190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68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E797-0405-4C65-8ECE-5AC4949CBAE8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36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7668-DEFB-46A4-91AE-91C4D9F8FD3A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405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E7A34-C011-41CD-B227-B5947C9943CC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79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17879-0ACE-4CA7-A9BE-4181175753E2}" type="datetime1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36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B0931-879E-4234-90E1-9458D728A257}" type="datetime1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42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5C30A-0D76-420D-A8D1-980C0FE71A8B}" type="datetime1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267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1BF82-17BA-4C4A-BDAB-2EF14DB753C4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08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D850-6C9C-4EE2-8C01-EFFE6F845F98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40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05672-E186-465F-9C7F-328FCBDB6846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74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7868-953C-4541-A1E0-1B2CC47EBFA5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14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3CF16-B74F-42F1-8F0F-8310FA26E9CF}" type="datetime1">
              <a:rPr lang="en-US" smtClean="0"/>
              <a:t>11/19/2024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228/sms+spam+collecti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17278C5-34E8-4293-BE47-73B18483A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Rectangle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4" name="Picture 3" descr="A blue and yellow wavy lines&#10;&#10;Description automatically generated">
            <a:extLst>
              <a:ext uri="{FF2B5EF4-FFF2-40B4-BE49-F238E27FC236}">
                <a16:creationId xmlns:a16="http://schemas.microsoft.com/office/drawing/2014/main" id="{52DC82A5-50E3-3E16-E489-125829A140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l="1567" r="9545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63296D-E656-57D0-1503-612145379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275" y="797595"/>
            <a:ext cx="9679449" cy="3441896"/>
          </a:xfrm>
        </p:spPr>
        <p:txBody>
          <a:bodyPr anchor="b">
            <a:normAutofit fontScale="90000"/>
          </a:bodyPr>
          <a:lstStyle/>
          <a:p>
            <a:r>
              <a:rPr lang="en-US" sz="5000" dirty="0">
                <a:solidFill>
                  <a:srgbClr val="FFFFFF"/>
                </a:solidFill>
              </a:rPr>
              <a:t>Performance Evaluation of </a:t>
            </a:r>
            <a:br>
              <a:rPr lang="en-US" sz="5000" dirty="0">
                <a:solidFill>
                  <a:srgbClr val="FFFFFF"/>
                </a:solidFill>
              </a:rPr>
            </a:br>
            <a:r>
              <a:rPr lang="en-US" sz="5000" dirty="0">
                <a:solidFill>
                  <a:srgbClr val="FFFFFF"/>
                </a:solidFill>
              </a:rPr>
              <a:t>NLP Driven ML Models for Spam Classification in SMS</a:t>
            </a:r>
            <a:br>
              <a:rPr lang="en-US" sz="5000" dirty="0">
                <a:solidFill>
                  <a:srgbClr val="FFFFFF"/>
                </a:solidFill>
              </a:rPr>
            </a:br>
            <a:r>
              <a:rPr lang="en-US" sz="50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0B658-EBE6-FEBE-2910-C1F820635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0572" y="3950446"/>
            <a:ext cx="4443485" cy="2430032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Group-8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Ashutosh  – 28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Shishir Pathak – 32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Hieu Ho – 17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3435C-C5BE-A315-9F63-C9CA4BB9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1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FEF9F-38E2-D8FF-EDCC-CE26757F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58204-0F25-FFB1-3A6F-5E4EAB9EC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Dataset Information</a:t>
            </a:r>
          </a:p>
          <a:p>
            <a:r>
              <a:rPr lang="en-US" dirty="0"/>
              <a:t>Evaluate Data</a:t>
            </a:r>
          </a:p>
          <a:p>
            <a:r>
              <a:rPr lang="en-US" dirty="0"/>
              <a:t>Feature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C02FC-A930-9881-7CE5-7329B297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33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3D19-B62D-C793-5958-77FC850A8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Lifecycle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D245C-423F-69BD-18F2-1A6ED592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5D995-9365-E488-6701-FF410DFD004B}"/>
              </a:ext>
            </a:extLst>
          </p:cNvPr>
          <p:cNvSpPr txBox="1"/>
          <p:nvPr/>
        </p:nvSpPr>
        <p:spPr>
          <a:xfrm>
            <a:off x="1106129" y="1995947"/>
            <a:ext cx="18632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1524D-BED8-4538-F269-EB5B1C83EC44}"/>
              </a:ext>
            </a:extLst>
          </p:cNvPr>
          <p:cNvSpPr txBox="1"/>
          <p:nvPr/>
        </p:nvSpPr>
        <p:spPr>
          <a:xfrm>
            <a:off x="3583858" y="1995947"/>
            <a:ext cx="18632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Understanding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0D8D1-67BC-CC3F-F23C-E684EDF9D0B1}"/>
              </a:ext>
            </a:extLst>
          </p:cNvPr>
          <p:cNvSpPr txBox="1"/>
          <p:nvPr/>
        </p:nvSpPr>
        <p:spPr>
          <a:xfrm>
            <a:off x="3583858" y="3212379"/>
            <a:ext cx="18632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Feature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03476-E339-F4DC-A29A-47B4C160CFB3}"/>
              </a:ext>
            </a:extLst>
          </p:cNvPr>
          <p:cNvSpPr txBox="1"/>
          <p:nvPr/>
        </p:nvSpPr>
        <p:spPr>
          <a:xfrm>
            <a:off x="6093541" y="3212379"/>
            <a:ext cx="18632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  Evaluate  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7CA34-5879-59A5-6C17-2DDF8CCDFFD1}"/>
              </a:ext>
            </a:extLst>
          </p:cNvPr>
          <p:cNvSpPr txBox="1"/>
          <p:nvPr/>
        </p:nvSpPr>
        <p:spPr>
          <a:xfrm>
            <a:off x="6093541" y="4464122"/>
            <a:ext cx="18632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Evaluate 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C652F5-BB6E-2F85-F3C3-E95EC71C2BB2}"/>
              </a:ext>
            </a:extLst>
          </p:cNvPr>
          <p:cNvSpPr txBox="1"/>
          <p:nvPr/>
        </p:nvSpPr>
        <p:spPr>
          <a:xfrm>
            <a:off x="8735961" y="4464122"/>
            <a:ext cx="18632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 Tunning      Model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05325E-8624-3B4B-8E2A-E159EF14567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969342" y="2319113"/>
            <a:ext cx="6145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C8E0B9-AC54-A607-09B1-D04CDD904BD5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515465" y="2642278"/>
            <a:ext cx="0" cy="570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1B4D9B-8CE1-9A08-8475-EBD98A2C7B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447071" y="3535545"/>
            <a:ext cx="646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4620E4-6D48-6276-85A5-630F0E4EA8AE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7025148" y="3858710"/>
            <a:ext cx="0" cy="605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F53D13-65F7-3BF0-A743-A46153AE2E2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7956754" y="4787288"/>
            <a:ext cx="7792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DDE6B6E3-DFBF-E27B-4B43-F88C8FD25D5A}"/>
              </a:ext>
            </a:extLst>
          </p:cNvPr>
          <p:cNvCxnSpPr>
            <a:stCxn id="11" idx="2"/>
            <a:endCxn id="10" idx="2"/>
          </p:cNvCxnSpPr>
          <p:nvPr/>
        </p:nvCxnSpPr>
        <p:spPr>
          <a:xfrm rot="5400000">
            <a:off x="8346358" y="3789243"/>
            <a:ext cx="12700" cy="2642420"/>
          </a:xfrm>
          <a:prstGeom prst="curvedConnector3">
            <a:avLst>
              <a:gd name="adj1" fmla="val 427742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54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0D43-3D03-5D96-CF65-E7B95DB3A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2F022-68EA-8890-4BB2-3DFCEDA2C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rise in SMS communication has led to an increase in spam, posing risks like fraud and phishing. This study evaluates the performance of NLP-driven machine learning models for effective spam classification, aiming to identify the most accurate and efficient approach.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538AB-F6CF-2153-E20D-39D606565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1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9D07-98D2-5F0E-EF73-7126BBCB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32032-A7BD-F5CB-41ED-DDA1C2263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Source: </a:t>
            </a:r>
            <a:r>
              <a:rPr lang="en-US" sz="2400" dirty="0">
                <a:hlinkClick r:id="rId2"/>
              </a:rPr>
              <a:t>https://archive.ics.uci.edu/dataset/228/sms+spam+collection</a:t>
            </a:r>
            <a:endParaRPr lang="en-US" sz="2400" dirty="0"/>
          </a:p>
          <a:p>
            <a:r>
              <a:rPr lang="en-US" sz="2400" dirty="0"/>
              <a:t>The dataset contains a total of 5,574 instances, with 747 labeled as spam messages and 4,825 labeled as ham messages.</a:t>
            </a:r>
          </a:p>
          <a:p>
            <a:r>
              <a:rPr lang="en-US" sz="2400" dirty="0"/>
              <a:t>Dataset Structure: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Attributes:</a:t>
            </a:r>
            <a:br>
              <a:rPr lang="en-US" dirty="0"/>
            </a:br>
            <a:r>
              <a:rPr lang="en-US" dirty="0"/>
              <a:t>The message content (text of the message).</a:t>
            </a:r>
          </a:p>
          <a:p>
            <a:pPr marL="971550" lvl="1" indent="-51435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Target Class:</a:t>
            </a:r>
            <a:br>
              <a:rPr lang="en-US" dirty="0"/>
            </a:br>
            <a:r>
              <a:rPr lang="en-US" dirty="0"/>
              <a:t>The label indicating whether the message is "ham" (non-spam) or "spam."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ECE55-3B42-62C5-61AA-21A75610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88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5AB2-EF39-368B-A5D5-76B91270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14367-51BE-3D25-3A78-44D3C16C8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Understand Data</a:t>
            </a:r>
            <a:r>
              <a:rPr lang="en-US" sz="16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	Explored the structure of the dataset to identify key attributes (Class, Message).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Handling Data Issues</a:t>
            </a:r>
            <a:r>
              <a:rPr lang="en-US" sz="16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	Duplicated Values</a:t>
            </a:r>
            <a:r>
              <a:rPr lang="en-US" sz="1600" dirty="0"/>
              <a:t>: Identified and removed duplicate entries to avoid redundancy.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	Missing Values</a:t>
            </a:r>
            <a:r>
              <a:rPr lang="en-US" sz="1600" dirty="0"/>
              <a:t>: Checked for and addressed any missing data points to maintain consistency.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	Outliers</a:t>
            </a:r>
            <a:r>
              <a:rPr lang="en-US" sz="1600" dirty="0"/>
              <a:t>: Identified and analyzed outliers that could impact model accuracy and reliability.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Refining Data</a:t>
            </a:r>
            <a:r>
              <a:rPr lang="en-US" sz="16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	Measured the length of each message to understand text patterns.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	Removed outliers to ensure the dataset reflects realistic patterns.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Visualizing Insights</a:t>
            </a:r>
            <a:r>
              <a:rPr lang="en-US" sz="16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	Created word clouds to visualize frequently used words in spam and ham messages and used bar charts and box plots for a clear and intuitive understanding of the dataset.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5DEF1-7D4C-54A7-931E-ACA43511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98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53EB9-313A-1133-9844-7DF69004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739E1-0382-DE07-5BFB-09EDB874E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Transforming Raw Data into Meaningful Insights</a:t>
            </a:r>
            <a:br>
              <a:rPr lang="en-US" sz="2400" dirty="0"/>
            </a:br>
            <a:r>
              <a:rPr lang="en-US" sz="2400" dirty="0"/>
              <a:t>To enhance the model's ability to classify messages effectively, we engineered features that capture key characteristics of the text: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b="1" dirty="0"/>
              <a:t>Pattern Detection: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Identified messages containing URLs, contact numbers, and currency symbols, which are common indicators of spam.</a:t>
            </a:r>
          </a:p>
          <a:p>
            <a:pPr>
              <a:spcBef>
                <a:spcPts val="1800"/>
              </a:spcBef>
            </a:pPr>
            <a:r>
              <a:rPr lang="en-US" sz="2400" b="1" dirty="0"/>
              <a:t>Insights Through Visuals:</a:t>
            </a:r>
          </a:p>
          <a:p>
            <a:pPr marL="0" indent="0">
              <a:buNone/>
            </a:pPr>
            <a:r>
              <a:rPr lang="en-US" sz="2400" dirty="0"/>
              <a:t>	Plotted the distribution of messages with:</a:t>
            </a:r>
          </a:p>
          <a:p>
            <a:pPr marL="1419606" lvl="4" indent="-285750"/>
            <a:r>
              <a:rPr lang="en-US" sz="2400" dirty="0"/>
              <a:t>URLs, Contact numbers, and Currency symbol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32583-EB14-431B-1FCC-007AA8FE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76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4A2E-3213-E826-C5AF-353074A3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DF38A-7934-1C26-B4A3-B89B2CBBB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Cleaning data</a:t>
            </a:r>
          </a:p>
          <a:p>
            <a:r>
              <a:rPr lang="en-US" sz="3200" dirty="0"/>
              <a:t>Tokenization</a:t>
            </a:r>
          </a:p>
          <a:p>
            <a:r>
              <a:rPr lang="en-US" sz="3200" dirty="0"/>
              <a:t>Removing stop words</a:t>
            </a:r>
          </a:p>
          <a:p>
            <a:r>
              <a:rPr lang="en-US" sz="3200" dirty="0"/>
              <a:t>Lemmatization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1B263-EC39-CB34-F874-610EA42AD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6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A515-5A8E-245F-984E-1FAEB5A0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CCD25-7C57-9017-786F-4F68776F2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9F7BB-5A5E-075D-AA79-6396FBCF3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892"/>
            <a:ext cx="10515600" cy="634668"/>
          </a:xfrm>
        </p:spPr>
        <p:txBody>
          <a:bodyPr>
            <a:normAutofit/>
          </a:bodyPr>
          <a:lstStyle/>
          <a:p>
            <a:r>
              <a:rPr lang="en-US" sz="3200" dirty="0"/>
              <a:t>TF-IDF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6D72E-7C5E-37D2-E07B-210F93AA8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91" y="2712767"/>
            <a:ext cx="10515601" cy="3556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12FE5-93D7-3796-8D40-F77D8112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81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5E74D-4819-7B75-30F9-0E6598BE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61B8-5EF3-C5ED-09E4-E3830B31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0C2F72E-DD72-F564-FA61-D07C9B90B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160" y="1909100"/>
            <a:ext cx="10515600" cy="4204708"/>
          </a:xfr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05B9FCA-3C85-09FF-71E0-818F37FC058F}"/>
              </a:ext>
            </a:extLst>
          </p:cNvPr>
          <p:cNvSpPr/>
          <p:nvPr/>
        </p:nvSpPr>
        <p:spPr>
          <a:xfrm>
            <a:off x="1778000" y="5811520"/>
            <a:ext cx="944880" cy="3022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E1E494-4C95-E62F-6AF9-A95F2E102118}"/>
              </a:ext>
            </a:extLst>
          </p:cNvPr>
          <p:cNvSpPr/>
          <p:nvPr/>
        </p:nvSpPr>
        <p:spPr>
          <a:xfrm>
            <a:off x="9621520" y="1909100"/>
            <a:ext cx="2047240" cy="4204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0C432-1879-2410-2F1D-7E05559B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32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6A08-E425-9E6C-D08B-D330A3BF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3937D6E-2BD7-0088-7EC8-AAF82DE20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29030"/>
              </p:ext>
            </p:extLst>
          </p:nvPr>
        </p:nvGraphicFramePr>
        <p:xfrm>
          <a:off x="2499360" y="4512584"/>
          <a:ext cx="314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5227957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4198166545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val="87025296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7239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4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1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0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93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2B8637D-156F-C28B-3520-F95B683F3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397022"/>
              </p:ext>
            </p:extLst>
          </p:nvPr>
        </p:nvGraphicFramePr>
        <p:xfrm>
          <a:off x="5648960" y="4234728"/>
          <a:ext cx="4277360" cy="2123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522795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198166545"/>
                    </a:ext>
                  </a:extLst>
                </a:gridCol>
                <a:gridCol w="1330960">
                  <a:extLst>
                    <a:ext uri="{9D8B030D-6E8A-4147-A177-3AD203B41FA5}">
                      <a16:colId xmlns:a16="http://schemas.microsoft.com/office/drawing/2014/main" val="870252962"/>
                    </a:ext>
                  </a:extLst>
                </a:gridCol>
                <a:gridCol w="1209040">
                  <a:extLst>
                    <a:ext uri="{9D8B030D-6E8A-4147-A177-3AD203B41FA5}">
                      <a16:colId xmlns:a16="http://schemas.microsoft.com/office/drawing/2014/main" val="207239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xxx1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freephone123.org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newjobs.net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4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1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0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93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B428B34-36DE-5EBF-6EBF-409B995B6346}"/>
              </a:ext>
            </a:extLst>
          </p:cNvPr>
          <p:cNvSpPr txBox="1"/>
          <p:nvPr/>
        </p:nvSpPr>
        <p:spPr>
          <a:xfrm>
            <a:off x="944880" y="1690688"/>
            <a:ext cx="9911080" cy="2225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You </a:t>
            </a:r>
            <a:r>
              <a:rPr lang="en-US" dirty="0">
                <a:solidFill>
                  <a:schemeClr val="accent2"/>
                </a:solidFill>
              </a:rPr>
              <a:t>won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$</a:t>
            </a:r>
            <a:r>
              <a:rPr lang="en-US" dirty="0"/>
              <a:t>400, </a:t>
            </a:r>
            <a:r>
              <a:rPr lang="en-US" dirty="0">
                <a:solidFill>
                  <a:schemeClr val="accent2"/>
                </a:solidFill>
              </a:rPr>
              <a:t>call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XXX-XXX-XXX1</a:t>
            </a:r>
            <a:r>
              <a:rPr lang="en-US" dirty="0"/>
              <a:t> to claim your price!!!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Text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XXX-XXX-XXX2</a:t>
            </a:r>
            <a:r>
              <a:rPr lang="en-US" dirty="0"/>
              <a:t> to get a </a:t>
            </a:r>
            <a:r>
              <a:rPr lang="en-US" dirty="0">
                <a:solidFill>
                  <a:schemeClr val="accent2"/>
                </a:solidFill>
              </a:rPr>
              <a:t>free</a:t>
            </a:r>
            <a:r>
              <a:rPr lang="en-US" dirty="0"/>
              <a:t> trip to Miami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Get your </a:t>
            </a:r>
            <a:r>
              <a:rPr lang="en-US" dirty="0">
                <a:solidFill>
                  <a:schemeClr val="accent2"/>
                </a:solidFill>
              </a:rPr>
              <a:t>free</a:t>
            </a:r>
            <a:r>
              <a:rPr lang="en-US" dirty="0"/>
              <a:t> </a:t>
            </a:r>
            <a:r>
              <a:rPr lang="en-US" dirty="0" err="1"/>
              <a:t>Iphone</a:t>
            </a:r>
            <a:r>
              <a:rPr lang="en-US" dirty="0"/>
              <a:t> here </a:t>
            </a:r>
            <a:r>
              <a:rPr lang="en-US" dirty="0">
                <a:solidFill>
                  <a:schemeClr val="accent5"/>
                </a:solidFill>
              </a:rPr>
              <a:t>freephone123.org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Need help with job opportunities? Go to </a:t>
            </a:r>
            <a:r>
              <a:rPr lang="en-US" dirty="0">
                <a:solidFill>
                  <a:schemeClr val="accent5"/>
                </a:solidFill>
              </a:rPr>
              <a:t>newjobs.net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37E4F11-FF06-C369-D220-ECA6381CF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28017"/>
              </p:ext>
            </p:extLst>
          </p:nvPr>
        </p:nvGraphicFramePr>
        <p:xfrm>
          <a:off x="1950720" y="4883424"/>
          <a:ext cx="548640" cy="148336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734982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44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03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8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59350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767C49-3FBA-6E52-9CE7-22841DD4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9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4720-C58C-085F-BAFE-F269E961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7A57-0FA1-7934-9CF4-80E021A5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  <a:br>
              <a:rPr lang="en-US" dirty="0"/>
            </a:br>
            <a:r>
              <a:rPr lang="en-US" dirty="0"/>
              <a:t>Binary Encoding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DD01826-15E0-9287-A51B-69C65F765FFE}"/>
              </a:ext>
            </a:extLst>
          </p:cNvPr>
          <p:cNvGraphicFramePr>
            <a:graphicFrameLocks noGrp="1"/>
          </p:cNvGraphicFramePr>
          <p:nvPr/>
        </p:nvGraphicFramePr>
        <p:xfrm>
          <a:off x="2499360" y="4512584"/>
          <a:ext cx="314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5227957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4198166545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val="87025296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7239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4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1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0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93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34BDE6A-B89E-4E89-5ED7-B88ED1EFC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21999"/>
              </p:ext>
            </p:extLst>
          </p:nvPr>
        </p:nvGraphicFramePr>
        <p:xfrm>
          <a:off x="5648960" y="4512584"/>
          <a:ext cx="337312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5227957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4198166545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07239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4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1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0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93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AA8927E-D82A-0058-C88C-B3ECEF93BEAC}"/>
              </a:ext>
            </a:extLst>
          </p:cNvPr>
          <p:cNvSpPr txBox="1"/>
          <p:nvPr/>
        </p:nvSpPr>
        <p:spPr>
          <a:xfrm>
            <a:off x="944880" y="1690688"/>
            <a:ext cx="9911080" cy="2225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You </a:t>
            </a:r>
            <a:r>
              <a:rPr lang="en-US" dirty="0">
                <a:solidFill>
                  <a:schemeClr val="accent2"/>
                </a:solidFill>
              </a:rPr>
              <a:t>won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$</a:t>
            </a:r>
            <a:r>
              <a:rPr lang="en-US" dirty="0"/>
              <a:t>400, </a:t>
            </a:r>
            <a:r>
              <a:rPr lang="en-US" dirty="0">
                <a:solidFill>
                  <a:schemeClr val="accent2"/>
                </a:solidFill>
              </a:rPr>
              <a:t>call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XXX-XXX-XXX1</a:t>
            </a:r>
            <a:r>
              <a:rPr lang="en-US" dirty="0"/>
              <a:t> to claim your price!!!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</a:rPr>
              <a:t>Text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XXX-XXX-XXX2</a:t>
            </a:r>
            <a:r>
              <a:rPr lang="en-US" dirty="0"/>
              <a:t> to get a </a:t>
            </a:r>
            <a:r>
              <a:rPr lang="en-US" dirty="0">
                <a:solidFill>
                  <a:schemeClr val="accent2"/>
                </a:solidFill>
              </a:rPr>
              <a:t>free</a:t>
            </a:r>
            <a:r>
              <a:rPr lang="en-US" dirty="0"/>
              <a:t> trip to Miami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Get your </a:t>
            </a:r>
            <a:r>
              <a:rPr lang="en-US" dirty="0">
                <a:solidFill>
                  <a:schemeClr val="accent2"/>
                </a:solidFill>
              </a:rPr>
              <a:t>free</a:t>
            </a:r>
            <a:r>
              <a:rPr lang="en-US" dirty="0"/>
              <a:t> </a:t>
            </a:r>
            <a:r>
              <a:rPr lang="en-US" dirty="0" err="1"/>
              <a:t>Iphone</a:t>
            </a:r>
            <a:r>
              <a:rPr lang="en-US" dirty="0"/>
              <a:t> here </a:t>
            </a:r>
            <a:r>
              <a:rPr lang="en-US" dirty="0">
                <a:solidFill>
                  <a:schemeClr val="accent5"/>
                </a:solidFill>
              </a:rPr>
              <a:t>freephone123.org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Need help with job opportunities? Go to </a:t>
            </a:r>
            <a:r>
              <a:rPr lang="en-US" dirty="0">
                <a:solidFill>
                  <a:schemeClr val="accent5"/>
                </a:solidFill>
              </a:rPr>
              <a:t>newjobs.net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39D4C8D-56D0-4B71-2DC2-67B182832928}"/>
              </a:ext>
            </a:extLst>
          </p:cNvPr>
          <p:cNvGraphicFramePr>
            <a:graphicFrameLocks noGrp="1"/>
          </p:cNvGraphicFramePr>
          <p:nvPr/>
        </p:nvGraphicFramePr>
        <p:xfrm>
          <a:off x="1950720" y="4883424"/>
          <a:ext cx="548640" cy="148336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734982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44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03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8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59350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F1C975-107F-7A9E-2856-4A2633AC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73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A471-97DF-1BFD-0CCA-D4B5394F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5410-E571-7C46-36B2-72F4B310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  <a:br>
              <a:rPr lang="en-US" dirty="0"/>
            </a:br>
            <a:r>
              <a:rPr lang="en-US" dirty="0"/>
              <a:t>Presentation Comparison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7A03E6-128D-ED21-7278-1015239F5C35}"/>
              </a:ext>
            </a:extLst>
          </p:cNvPr>
          <p:cNvGraphicFramePr>
            <a:graphicFrameLocks noGrp="1"/>
          </p:cNvGraphicFramePr>
          <p:nvPr/>
        </p:nvGraphicFramePr>
        <p:xfrm>
          <a:off x="2499360" y="4512584"/>
          <a:ext cx="314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5227957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4198166545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val="87025296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7239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4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1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0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93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D27D38B-FB8C-ADF8-5F1D-D537C6B1D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487336"/>
              </p:ext>
            </p:extLst>
          </p:nvPr>
        </p:nvGraphicFramePr>
        <p:xfrm>
          <a:off x="5648960" y="4512584"/>
          <a:ext cx="337312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5227957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4198166545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07239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4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1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0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8B11C3C-3FA2-53CA-3860-D5C1EAB12D8F}"/>
              </a:ext>
            </a:extLst>
          </p:cNvPr>
          <p:cNvGraphicFramePr>
            <a:graphicFrameLocks noGrp="1"/>
          </p:cNvGraphicFramePr>
          <p:nvPr/>
        </p:nvGraphicFramePr>
        <p:xfrm>
          <a:off x="1950720" y="4883424"/>
          <a:ext cx="548640" cy="148336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734982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44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03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8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5935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9F2906-3531-B9EF-15A1-9DE543543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18219"/>
              </p:ext>
            </p:extLst>
          </p:nvPr>
        </p:nvGraphicFramePr>
        <p:xfrm>
          <a:off x="2499360" y="2128044"/>
          <a:ext cx="314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5227957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4198166545"/>
                    </a:ext>
                  </a:extLst>
                </a:gridCol>
                <a:gridCol w="833120">
                  <a:extLst>
                    <a:ext uri="{9D8B030D-6E8A-4147-A177-3AD203B41FA5}">
                      <a16:colId xmlns:a16="http://schemas.microsoft.com/office/drawing/2014/main" val="87025296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7239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4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1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0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93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23D621-33CF-61D0-BF0C-21AC4916B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792085"/>
              </p:ext>
            </p:extLst>
          </p:nvPr>
        </p:nvGraphicFramePr>
        <p:xfrm>
          <a:off x="5648960" y="1850188"/>
          <a:ext cx="4277360" cy="2123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522795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198166545"/>
                    </a:ext>
                  </a:extLst>
                </a:gridCol>
                <a:gridCol w="1330960">
                  <a:extLst>
                    <a:ext uri="{9D8B030D-6E8A-4147-A177-3AD203B41FA5}">
                      <a16:colId xmlns:a16="http://schemas.microsoft.com/office/drawing/2014/main" val="870252962"/>
                    </a:ext>
                  </a:extLst>
                </a:gridCol>
                <a:gridCol w="1209040">
                  <a:extLst>
                    <a:ext uri="{9D8B030D-6E8A-4147-A177-3AD203B41FA5}">
                      <a16:colId xmlns:a16="http://schemas.microsoft.com/office/drawing/2014/main" val="20723988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xxx1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xxx2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freephone123.org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newjobs.net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9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64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71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60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93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3F6450-C533-6596-2F91-A8AB0F90C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32930"/>
              </p:ext>
            </p:extLst>
          </p:nvPr>
        </p:nvGraphicFramePr>
        <p:xfrm>
          <a:off x="1950720" y="2498884"/>
          <a:ext cx="548640" cy="148336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734982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44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03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98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59350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D5C85-25A2-D4F8-247A-04521867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27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EB1A-2246-F0DA-4574-D7AE27E7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  <a:br>
              <a:rPr lang="en-US" dirty="0"/>
            </a:br>
            <a:r>
              <a:rPr lang="en-US" dirty="0"/>
              <a:t>Performance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5C79E-85E4-0EC9-2965-D38A414758F0}"/>
              </a:ext>
            </a:extLst>
          </p:cNvPr>
          <p:cNvSpPr txBox="1"/>
          <p:nvPr/>
        </p:nvSpPr>
        <p:spPr>
          <a:xfrm>
            <a:off x="6522720" y="5626414"/>
            <a:ext cx="548640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Without binary encoding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22EB63-EA9A-12CA-5BE7-FAC849684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951938"/>
              </p:ext>
            </p:extLst>
          </p:nvPr>
        </p:nvGraphicFramePr>
        <p:xfrm>
          <a:off x="1026160" y="2429191"/>
          <a:ext cx="5349240" cy="28346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305560">
                  <a:extLst>
                    <a:ext uri="{9D8B030D-6E8A-4147-A177-3AD203B41FA5}">
                      <a16:colId xmlns:a16="http://schemas.microsoft.com/office/drawing/2014/main" val="291367360"/>
                    </a:ext>
                  </a:extLst>
                </a:gridCol>
                <a:gridCol w="1209040">
                  <a:extLst>
                    <a:ext uri="{9D8B030D-6E8A-4147-A177-3AD203B41FA5}">
                      <a16:colId xmlns:a16="http://schemas.microsoft.com/office/drawing/2014/main" val="1530144108"/>
                    </a:ext>
                  </a:extLst>
                </a:gridCol>
                <a:gridCol w="1534160">
                  <a:extLst>
                    <a:ext uri="{9D8B030D-6E8A-4147-A177-3AD203B41FA5}">
                      <a16:colId xmlns:a16="http://schemas.microsoft.com/office/drawing/2014/main" val="2329334112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961894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br>
                        <a:rPr lang="en-US" b="1" dirty="0">
                          <a:effectLst/>
                        </a:rPr>
                      </a:b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MNB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</a:rPr>
                        <a:t>CNB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342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0.974282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0.983254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0.956938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927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0.985437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0.946058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0.780328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42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0.835391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0.938272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0.979424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784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0.904232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0.942149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0.868613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09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0.990325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0.992240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0.992240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765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PR-AUC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0.979033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0.980921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0.980921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5201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E39CAF-C142-A8FD-208D-B00C0B6BF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920231"/>
              </p:ext>
            </p:extLst>
          </p:nvPr>
        </p:nvGraphicFramePr>
        <p:xfrm>
          <a:off x="6522720" y="2429191"/>
          <a:ext cx="5486400" cy="283464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275080">
                  <a:extLst>
                    <a:ext uri="{9D8B030D-6E8A-4147-A177-3AD203B41FA5}">
                      <a16:colId xmlns:a16="http://schemas.microsoft.com/office/drawing/2014/main" val="359808532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993180418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88130037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09972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br>
                        <a:rPr lang="en-US" b="1" dirty="0">
                          <a:effectLst/>
                        </a:rPr>
                      </a:b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MNB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CNB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479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0.961124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0.976675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0.944378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131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0.971098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chemeClr val="accent5"/>
                          </a:solidFill>
                          <a:effectLst/>
                        </a:rPr>
                        <a:t>0.984615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0.724252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343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0.736842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0.842105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0.956140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969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0.837905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0.907801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0.824197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324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0.990323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0.985797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0.985797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6299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PR-AUC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0.955256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0.962550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0.962550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95007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4CCF18D-264D-525C-8AE9-B94A7671F8C7}"/>
              </a:ext>
            </a:extLst>
          </p:cNvPr>
          <p:cNvSpPr txBox="1"/>
          <p:nvPr/>
        </p:nvSpPr>
        <p:spPr>
          <a:xfrm>
            <a:off x="1026160" y="5669915"/>
            <a:ext cx="534924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With binary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6C035-2664-CA0A-D3EC-16898FC4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44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EC8D-6A02-A788-1E9F-ED72BBF3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F8B9-D267-ECF5-1316-7A64B22B5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Vectorization</a:t>
            </a:r>
            <a:br>
              <a:rPr lang="en-US" dirty="0"/>
            </a:br>
            <a:r>
              <a:rPr lang="en-US" dirty="0"/>
              <a:t>Performance 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F3F5A9-039C-0889-A1BF-0393B8066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925662"/>
              </p:ext>
            </p:extLst>
          </p:nvPr>
        </p:nvGraphicFramePr>
        <p:xfrm>
          <a:off x="1163320" y="2251272"/>
          <a:ext cx="10515600" cy="373248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31661">
                  <a:extLst>
                    <a:ext uri="{9D8B030D-6E8A-4147-A177-3AD203B41FA5}">
                      <a16:colId xmlns:a16="http://schemas.microsoft.com/office/drawing/2014/main" val="1369888113"/>
                    </a:ext>
                  </a:extLst>
                </a:gridCol>
                <a:gridCol w="987653">
                  <a:extLst>
                    <a:ext uri="{9D8B030D-6E8A-4147-A177-3AD203B41FA5}">
                      <a16:colId xmlns:a16="http://schemas.microsoft.com/office/drawing/2014/main" val="3406884644"/>
                    </a:ext>
                  </a:extLst>
                </a:gridCol>
                <a:gridCol w="1185184">
                  <a:extLst>
                    <a:ext uri="{9D8B030D-6E8A-4147-A177-3AD203B41FA5}">
                      <a16:colId xmlns:a16="http://schemas.microsoft.com/office/drawing/2014/main" val="160090408"/>
                    </a:ext>
                  </a:extLst>
                </a:gridCol>
                <a:gridCol w="1185184">
                  <a:extLst>
                    <a:ext uri="{9D8B030D-6E8A-4147-A177-3AD203B41FA5}">
                      <a16:colId xmlns:a16="http://schemas.microsoft.com/office/drawing/2014/main" val="299203069"/>
                    </a:ext>
                  </a:extLst>
                </a:gridCol>
                <a:gridCol w="987653">
                  <a:extLst>
                    <a:ext uri="{9D8B030D-6E8A-4147-A177-3AD203B41FA5}">
                      <a16:colId xmlns:a16="http://schemas.microsoft.com/office/drawing/2014/main" val="411038769"/>
                    </a:ext>
                  </a:extLst>
                </a:gridCol>
                <a:gridCol w="987653">
                  <a:extLst>
                    <a:ext uri="{9D8B030D-6E8A-4147-A177-3AD203B41FA5}">
                      <a16:colId xmlns:a16="http://schemas.microsoft.com/office/drawing/2014/main" val="3494041442"/>
                    </a:ext>
                  </a:extLst>
                </a:gridCol>
                <a:gridCol w="987653">
                  <a:extLst>
                    <a:ext uri="{9D8B030D-6E8A-4147-A177-3AD203B41FA5}">
                      <a16:colId xmlns:a16="http://schemas.microsoft.com/office/drawing/2014/main" val="1600224521"/>
                    </a:ext>
                  </a:extLst>
                </a:gridCol>
                <a:gridCol w="987653">
                  <a:extLst>
                    <a:ext uri="{9D8B030D-6E8A-4147-A177-3AD203B41FA5}">
                      <a16:colId xmlns:a16="http://schemas.microsoft.com/office/drawing/2014/main" val="2762615094"/>
                    </a:ext>
                  </a:extLst>
                </a:gridCol>
                <a:gridCol w="987653">
                  <a:extLst>
                    <a:ext uri="{9D8B030D-6E8A-4147-A177-3AD203B41FA5}">
                      <a16:colId xmlns:a16="http://schemas.microsoft.com/office/drawing/2014/main" val="1843060440"/>
                    </a:ext>
                  </a:extLst>
                </a:gridCol>
                <a:gridCol w="987653">
                  <a:extLst>
                    <a:ext uri="{9D8B030D-6E8A-4147-A177-3AD203B41FA5}">
                      <a16:colId xmlns:a16="http://schemas.microsoft.com/office/drawing/2014/main" val="4090508643"/>
                    </a:ext>
                  </a:extLst>
                </a:gridCol>
              </a:tblGrid>
              <a:tr h="2771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LR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MNB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CNB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649491"/>
                  </a:ext>
                </a:extLst>
              </a:tr>
              <a:tr h="277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W/O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W/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W/O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W/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W/O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W/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79263281"/>
                  </a:ext>
                </a:extLst>
              </a:tr>
              <a:tr h="53863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Accuracy</a:t>
                      </a:r>
                    </a:p>
                  </a:txBody>
                  <a:tcPr marL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0.9611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0.9743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1.32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0.9767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0.9833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Univers" panose="020B0503020202020204" pitchFamily="34" charset="0"/>
                        </a:rPr>
                        <a:t>0.66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0.9444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0.9569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1.26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2771649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Precision</a:t>
                      </a:r>
                    </a:p>
                  </a:txBody>
                  <a:tcPr marL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0.9711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0.9854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1.43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0.9846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0.9461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Univers" panose="020B0503020202020204" pitchFamily="34" charset="0"/>
                        </a:rPr>
                        <a:t>-3.86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0.7243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0.7803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5.61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8913285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Recall</a:t>
                      </a:r>
                    </a:p>
                  </a:txBody>
                  <a:tcPr marL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0.7368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0.8354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9.85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0.8421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0.9383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Univers" panose="020B0503020202020204" pitchFamily="34" charset="0"/>
                        </a:rPr>
                        <a:t>9.62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0.9561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0.9794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2.33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9814469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F1</a:t>
                      </a:r>
                    </a:p>
                  </a:txBody>
                  <a:tcPr marL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0.8379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0.9042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6.63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0.9078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0.9421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Univers" panose="020B0503020202020204" pitchFamily="34" charset="0"/>
                        </a:rPr>
                        <a:t>3.43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0.8242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0.8686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4.44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333911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ROC-AUC</a:t>
                      </a:r>
                    </a:p>
                  </a:txBody>
                  <a:tcPr marL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0.9903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0.9903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0.9858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0.9922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Univers" panose="020B0503020202020204" pitchFamily="34" charset="0"/>
                        </a:rPr>
                        <a:t>0.64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0.9858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0.9922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0.64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02426174"/>
                  </a:ext>
                </a:extLst>
              </a:tr>
              <a:tr h="628453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PR-AUC</a:t>
                      </a:r>
                    </a:p>
                  </a:txBody>
                  <a:tcPr marL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0.9553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0.9790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2.38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0.9626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0.9809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70AD47"/>
                          </a:solidFill>
                          <a:effectLst/>
                          <a:latin typeface="Univers" panose="020B0503020202020204" pitchFamily="34" charset="0"/>
                        </a:rPr>
                        <a:t>1.84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0.9626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Univers" panose="020B0503020202020204" pitchFamily="34" charset="0"/>
                        </a:rPr>
                        <a:t>0.9809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70AD47"/>
                          </a:solidFill>
                          <a:effectLst/>
                          <a:latin typeface="Arial" panose="020B0604020202020204" pitchFamily="34" charset="0"/>
                        </a:rPr>
                        <a:t>1.84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707716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717B1-4994-229A-6303-69E7A097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43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A0E5-003E-BA18-BDBE-F78BA65A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Performance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A9C7188-6DC4-8FFF-E57D-76A9A2C189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675568"/>
              </p:ext>
            </p:extLst>
          </p:nvPr>
        </p:nvGraphicFramePr>
        <p:xfrm>
          <a:off x="1264920" y="2036603"/>
          <a:ext cx="10226040" cy="353171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578952809"/>
                    </a:ext>
                  </a:extLst>
                </a:gridCol>
                <a:gridCol w="2383070">
                  <a:extLst>
                    <a:ext uri="{9D8B030D-6E8A-4147-A177-3AD203B41FA5}">
                      <a16:colId xmlns:a16="http://schemas.microsoft.com/office/drawing/2014/main" val="1801201796"/>
                    </a:ext>
                  </a:extLst>
                </a:gridCol>
                <a:gridCol w="3337010">
                  <a:extLst>
                    <a:ext uri="{9D8B030D-6E8A-4147-A177-3AD203B41FA5}">
                      <a16:colId xmlns:a16="http://schemas.microsoft.com/office/drawing/2014/main" val="1493183658"/>
                    </a:ext>
                  </a:extLst>
                </a:gridCol>
                <a:gridCol w="3032760">
                  <a:extLst>
                    <a:ext uri="{9D8B030D-6E8A-4147-A177-3AD203B41FA5}">
                      <a16:colId xmlns:a16="http://schemas.microsoft.com/office/drawing/2014/main" val="1502593112"/>
                    </a:ext>
                  </a:extLst>
                </a:gridCol>
              </a:tblGrid>
              <a:tr h="50453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Logistic Regression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Multinomial Naive Bayes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Complement Naive Bayes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512273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u="none" strike="noStrike" dirty="0">
                          <a:effectLst/>
                        </a:rPr>
                        <a:t>Accuracy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0.9663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0.9818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0.9565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006796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u="none" strike="noStrike" dirty="0">
                          <a:effectLst/>
                        </a:rPr>
                        <a:t>Precision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0.9722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0.9494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0.7553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764697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u="none" strike="noStrike" dirty="0">
                          <a:effectLst/>
                        </a:rPr>
                        <a:t>Recall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0.7447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0.8989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0.9521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2131124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u="none" strike="noStrike" dirty="0">
                          <a:effectLst/>
                        </a:rPr>
                        <a:t>F1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0.8434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0.9235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0.8424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809190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u="none" strike="noStrike" dirty="0">
                          <a:effectLst/>
                        </a:rPr>
                        <a:t>ROC-AUC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0.9875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0.9857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0.9857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484660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u="none" strike="noStrike" dirty="0">
                          <a:effectLst/>
                        </a:rPr>
                        <a:t>PR-AUC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0.9554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0.9614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0.9614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4237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674E4-E76F-02FC-7F5D-74FF85BB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12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35A2-90F5-1CC2-454E-4B388C619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Tuned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87581-A71B-0A99-C5B3-4BB338AC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DAECE2A5-8FA3-A29A-6799-4EDCA7A27E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9486686"/>
              </p:ext>
            </p:extLst>
          </p:nvPr>
        </p:nvGraphicFramePr>
        <p:xfrm>
          <a:off x="1264920" y="2036603"/>
          <a:ext cx="10226040" cy="353171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578952809"/>
                    </a:ext>
                  </a:extLst>
                </a:gridCol>
                <a:gridCol w="2383070">
                  <a:extLst>
                    <a:ext uri="{9D8B030D-6E8A-4147-A177-3AD203B41FA5}">
                      <a16:colId xmlns:a16="http://schemas.microsoft.com/office/drawing/2014/main" val="1801201796"/>
                    </a:ext>
                  </a:extLst>
                </a:gridCol>
                <a:gridCol w="3337010">
                  <a:extLst>
                    <a:ext uri="{9D8B030D-6E8A-4147-A177-3AD203B41FA5}">
                      <a16:colId xmlns:a16="http://schemas.microsoft.com/office/drawing/2014/main" val="1493183658"/>
                    </a:ext>
                  </a:extLst>
                </a:gridCol>
                <a:gridCol w="3032760">
                  <a:extLst>
                    <a:ext uri="{9D8B030D-6E8A-4147-A177-3AD203B41FA5}">
                      <a16:colId xmlns:a16="http://schemas.microsoft.com/office/drawing/2014/main" val="1502593112"/>
                    </a:ext>
                  </a:extLst>
                </a:gridCol>
              </a:tblGrid>
              <a:tr h="50453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Multinomial Naive 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Complement Naive Bayes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512273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0.9799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0.9838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006796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0.8045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764697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0.9149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0.9415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2131124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0.9169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0.9322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0.8676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809190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0.9879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0.9879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484660"/>
                  </a:ext>
                </a:extLst>
              </a:tr>
              <a:tr h="50453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423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339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EA0C-21A6-4641-218D-069C5F21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F42B544-88ED-7AAF-421C-E28B738468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495354"/>
              </p:ext>
            </p:extLst>
          </p:nvPr>
        </p:nvGraphicFramePr>
        <p:xfrm>
          <a:off x="1003301" y="2194719"/>
          <a:ext cx="10185397" cy="36576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64230">
                  <a:extLst>
                    <a:ext uri="{9D8B030D-6E8A-4147-A177-3AD203B41FA5}">
                      <a16:colId xmlns:a16="http://schemas.microsoft.com/office/drawing/2014/main" val="96639114"/>
                    </a:ext>
                  </a:extLst>
                </a:gridCol>
                <a:gridCol w="1013769">
                  <a:extLst>
                    <a:ext uri="{9D8B030D-6E8A-4147-A177-3AD203B41FA5}">
                      <a16:colId xmlns:a16="http://schemas.microsoft.com/office/drawing/2014/main" val="1361082191"/>
                    </a:ext>
                  </a:extLst>
                </a:gridCol>
                <a:gridCol w="1013769">
                  <a:extLst>
                    <a:ext uri="{9D8B030D-6E8A-4147-A177-3AD203B41FA5}">
                      <a16:colId xmlns:a16="http://schemas.microsoft.com/office/drawing/2014/main" val="456819104"/>
                    </a:ext>
                  </a:extLst>
                </a:gridCol>
                <a:gridCol w="1013769">
                  <a:extLst>
                    <a:ext uri="{9D8B030D-6E8A-4147-A177-3AD203B41FA5}">
                      <a16:colId xmlns:a16="http://schemas.microsoft.com/office/drawing/2014/main" val="3226092081"/>
                    </a:ext>
                  </a:extLst>
                </a:gridCol>
                <a:gridCol w="1013769">
                  <a:extLst>
                    <a:ext uri="{9D8B030D-6E8A-4147-A177-3AD203B41FA5}">
                      <a16:colId xmlns:a16="http://schemas.microsoft.com/office/drawing/2014/main" val="3000563368"/>
                    </a:ext>
                  </a:extLst>
                </a:gridCol>
                <a:gridCol w="1013769">
                  <a:extLst>
                    <a:ext uri="{9D8B030D-6E8A-4147-A177-3AD203B41FA5}">
                      <a16:colId xmlns:a16="http://schemas.microsoft.com/office/drawing/2014/main" val="3634311000"/>
                    </a:ext>
                  </a:extLst>
                </a:gridCol>
                <a:gridCol w="1013769">
                  <a:extLst>
                    <a:ext uri="{9D8B030D-6E8A-4147-A177-3AD203B41FA5}">
                      <a16:colId xmlns:a16="http://schemas.microsoft.com/office/drawing/2014/main" val="2625805147"/>
                    </a:ext>
                  </a:extLst>
                </a:gridCol>
                <a:gridCol w="1013769">
                  <a:extLst>
                    <a:ext uri="{9D8B030D-6E8A-4147-A177-3AD203B41FA5}">
                      <a16:colId xmlns:a16="http://schemas.microsoft.com/office/drawing/2014/main" val="1256189378"/>
                    </a:ext>
                  </a:extLst>
                </a:gridCol>
                <a:gridCol w="1013769">
                  <a:extLst>
                    <a:ext uri="{9D8B030D-6E8A-4147-A177-3AD203B41FA5}">
                      <a16:colId xmlns:a16="http://schemas.microsoft.com/office/drawing/2014/main" val="590647540"/>
                    </a:ext>
                  </a:extLst>
                </a:gridCol>
                <a:gridCol w="811015">
                  <a:extLst>
                    <a:ext uri="{9D8B030D-6E8A-4147-A177-3AD203B41FA5}">
                      <a16:colId xmlns:a16="http://schemas.microsoft.com/office/drawing/2014/main" val="2911152084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LR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>
                          <a:effectLst/>
                        </a:rPr>
                        <a:t>MNB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CNB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22535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Initial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Tuned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>
                          <a:effectLst/>
                        </a:rPr>
                        <a:t>%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>
                          <a:effectLst/>
                        </a:rPr>
                        <a:t>Initial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Tuned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%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Initial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Tuned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%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7661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</a:rPr>
                        <a:t>Accuracy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0.9663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0.9799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1.36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0.9818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0.9838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0.19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0.9565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0.9650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0.84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09833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>
                          <a:effectLst/>
                        </a:rPr>
                        <a:t>Precision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0.9722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0.9243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-4.79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0.9494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0.9503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accent5"/>
                          </a:solidFill>
                          <a:effectLst/>
                        </a:rPr>
                        <a:t>0.08</a:t>
                      </a:r>
                      <a:endParaRPr lang="en-US" sz="1800" b="0" i="0" u="none" strike="noStrike">
                        <a:solidFill>
                          <a:schemeClr val="accent5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0.7553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0.8045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4.93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1613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>
                          <a:effectLst/>
                        </a:rPr>
                        <a:t>Recall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0.7447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0.9096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16.49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0.8989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0.9149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1.60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0.9521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0.9415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-1.06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7226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</a:rPr>
                        <a:t>F1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0.8434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0.9169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7.35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0.9235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0.9322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0.88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0.8424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0.8676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2.53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78551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</a:rPr>
                        <a:t>ROC-AUC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0.9875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0.9857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-0.19</a:t>
                      </a:r>
                      <a:endParaRPr lang="en-US" sz="18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0.9857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0.9879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0.22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0.9857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0.9879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0.23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1679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</a:rPr>
                        <a:t>PR-AUC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0.9554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0.9603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0.49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0.9614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0.9651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0.37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0.9614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0.9650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Univers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solidFill>
                            <a:schemeClr val="accent5"/>
                          </a:solidFill>
                          <a:effectLst/>
                        </a:rPr>
                        <a:t>0.35</a:t>
                      </a:r>
                      <a:endParaRPr lang="en-US" sz="1800" b="0" i="0" u="none" strike="noStrike" dirty="0">
                        <a:solidFill>
                          <a:schemeClr val="accent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5473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CCEC2-2058-4B6D-D6A4-E2A4BF37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42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D21A-6218-3497-8565-B849E666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Comparison of classification algorithms vs imbalance data technique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DDCE9-AF17-0BF3-B218-05AB739F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19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B9ECCD-6BBA-0E38-5ADC-817C1587B6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0"/>
          <a:stretch/>
        </p:blipFill>
        <p:spPr>
          <a:xfrm>
            <a:off x="880334" y="2011823"/>
            <a:ext cx="10431331" cy="19873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386615-B6DD-ABA5-B5F6-FEEE9BEDA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758" y="4320283"/>
            <a:ext cx="5782482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71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163F6-3A38-BEEF-BF9F-835F316A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124" y="2766218"/>
            <a:ext cx="3985751" cy="1325563"/>
          </a:xfrm>
        </p:spPr>
        <p:txBody>
          <a:bodyPr/>
          <a:lstStyle/>
          <a:p>
            <a:r>
              <a:rPr lang="en-IN" dirty="0">
                <a:latin typeface="Comic Sans MS" panose="030F0702030302020204" pitchFamily="66" charset="0"/>
              </a:rPr>
              <a:t>THANK 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1B95C-A330-FFEB-1D82-61B6F8824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5202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View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1663</TotalTime>
  <Words>992</Words>
  <Application>Microsoft Office PowerPoint</Application>
  <PresentationFormat>Widescreen</PresentationFormat>
  <Paragraphs>518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Comic Sans MS</vt:lpstr>
      <vt:lpstr>Segoe UI</vt:lpstr>
      <vt:lpstr>Univers</vt:lpstr>
      <vt:lpstr>GradientVTI</vt:lpstr>
      <vt:lpstr>Performance Evaluation of  NLP Driven ML Models for Spam Classification in SMS  </vt:lpstr>
      <vt:lpstr>Presentation Outline</vt:lpstr>
      <vt:lpstr>Model Lifecycle</vt:lpstr>
      <vt:lpstr>Problem Statement</vt:lpstr>
      <vt:lpstr>Dataset Information</vt:lpstr>
      <vt:lpstr>Evaluate Data</vt:lpstr>
      <vt:lpstr>Feature Engineering</vt:lpstr>
      <vt:lpstr>Text Preprocessing</vt:lpstr>
      <vt:lpstr>Vectorization</vt:lpstr>
      <vt:lpstr>Vectorization</vt:lpstr>
      <vt:lpstr>Vectorization</vt:lpstr>
      <vt:lpstr>Vectorization Binary Encoding</vt:lpstr>
      <vt:lpstr>Vectorization Presentation Comparison</vt:lpstr>
      <vt:lpstr>Vectorization Performance Comparison</vt:lpstr>
      <vt:lpstr>Vectorization Performance Comparison</vt:lpstr>
      <vt:lpstr>Initial Performance</vt:lpstr>
      <vt:lpstr>Tuned Performance</vt:lpstr>
      <vt:lpstr>Performance Comparison</vt:lpstr>
      <vt:lpstr>Comparison of classification algorithms vs imbalance data technique  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Hieu Ho</dc:creator>
  <cp:lastModifiedBy>ASHUTOSH P. NAGAONKAR</cp:lastModifiedBy>
  <cp:revision>22</cp:revision>
  <dcterms:created xsi:type="dcterms:W3CDTF">2024-11-16T04:46:29Z</dcterms:created>
  <dcterms:modified xsi:type="dcterms:W3CDTF">2024-11-19T18:42:29Z</dcterms:modified>
</cp:coreProperties>
</file>